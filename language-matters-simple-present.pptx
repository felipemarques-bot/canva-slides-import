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1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8288000" cy="10287000"/>
  <p:notesSz cx="6858000" cy="9144000"/>
  <p:embeddedFontLst>
    <p:embeddedFont>
      <p:font typeface="Komsomol" charset="1" panose="00000000000000000000"/>
      <p:regular r:id="rId13"/>
    </p:embeddedFont>
    <p:embeddedFont>
      <p:font typeface="Klein Condensed Bold" charset="1" panose="00000806000000000000"/>
      <p:regular r:id="rId14"/>
    </p:embeddedFont>
    <p:embeddedFont>
      <p:font typeface="Klein Condensed" charset="1" panose="00000506000000000000"/>
      <p:regular r:id="rId15"/>
    </p:embeddedFont>
    <p:embeddedFont>
      <p:font typeface="Beth Ellen" charset="1" panose="00000000000000000000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image" Target="../media/image7.png"/><Relationship Id="rId11" Type="http://schemas.openxmlformats.org/officeDocument/2006/relationships/image" Target="../media/image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.png"/><Relationship Id="rId13" Type="http://schemas.openxmlformats.org/officeDocument/2006/relationships/image" Target="../media/image2.svg"/><Relationship Id="rId14" Type="http://schemas.openxmlformats.org/officeDocument/2006/relationships/image" Target="../media/image3.png"/><Relationship Id="rId15" Type="http://schemas.openxmlformats.org/officeDocument/2006/relationships/image" Target="../media/image4.svg"/><Relationship Id="rId16" Type="http://schemas.openxmlformats.org/officeDocument/2006/relationships/image" Target="../media/image5.png"/><Relationship Id="rId17" Type="http://schemas.openxmlformats.org/officeDocument/2006/relationships/image" Target="../media/image6.svg"/><Relationship Id="rId18" Type="http://schemas.openxmlformats.org/officeDocument/2006/relationships/image" Target="../media/image11.png"/><Relationship Id="rId19" Type="http://schemas.openxmlformats.org/officeDocument/2006/relationships/image" Target="../media/image1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11.png"/><Relationship Id="rId15" Type="http://schemas.openxmlformats.org/officeDocument/2006/relationships/image" Target="../media/image12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image" Target="../media/image20.png"/><Relationship Id="rId13" Type="http://schemas.openxmlformats.org/officeDocument/2006/relationships/image" Target="../media/image21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11.png"/><Relationship Id="rId15" Type="http://schemas.openxmlformats.org/officeDocument/2006/relationships/image" Target="../media/image1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image" Target="../media/image20.png"/><Relationship Id="rId13" Type="http://schemas.openxmlformats.org/officeDocument/2006/relationships/image" Target="../media/image21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11.png"/><Relationship Id="rId15" Type="http://schemas.openxmlformats.org/officeDocument/2006/relationships/image" Target="../media/image12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Relationship Id="rId6" Type="http://schemas.openxmlformats.org/officeDocument/2006/relationships/image" Target="../media/image17.png"/><Relationship Id="rId7" Type="http://schemas.openxmlformats.org/officeDocument/2006/relationships/image" Target="../media/image18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.png"/><Relationship Id="rId13" Type="http://schemas.openxmlformats.org/officeDocument/2006/relationships/image" Target="../media/image2.svg"/><Relationship Id="rId14" Type="http://schemas.openxmlformats.org/officeDocument/2006/relationships/image" Target="../media/image3.png"/><Relationship Id="rId15" Type="http://schemas.openxmlformats.org/officeDocument/2006/relationships/image" Target="../media/image4.svg"/><Relationship Id="rId16" Type="http://schemas.openxmlformats.org/officeDocument/2006/relationships/image" Target="../media/image5.png"/><Relationship Id="rId17" Type="http://schemas.openxmlformats.org/officeDocument/2006/relationships/image" Target="../media/image6.svg"/><Relationship Id="rId18" Type="http://schemas.openxmlformats.org/officeDocument/2006/relationships/image" Target="../media/image11.png"/><Relationship Id="rId19" Type="http://schemas.openxmlformats.org/officeDocument/2006/relationships/image" Target="../media/image12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5.png"/><Relationship Id="rId11" Type="http://schemas.openxmlformats.org/officeDocument/2006/relationships/image" Target="../media/image6.svg"/><Relationship Id="rId12" Type="http://schemas.openxmlformats.org/officeDocument/2006/relationships/image" Target="../media/image20.png"/><Relationship Id="rId13" Type="http://schemas.openxmlformats.org/officeDocument/2006/relationships/image" Target="../media/image21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image" Target="../media/image7.png"/><Relationship Id="rId11" Type="http://schemas.openxmlformats.org/officeDocument/2006/relationships/image" Target="../media/image8.svg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97034" y="2186912"/>
            <a:ext cx="13293933" cy="6246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1"/>
              </a:lnSpc>
            </a:pPr>
            <a:r>
              <a:rPr lang="en-US" sz="13001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LANGUAGE MATTERS 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01930" y="4473275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4"/>
                </a:lnTo>
                <a:lnTo>
                  <a:pt x="0" y="6155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01930" y="5412669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13065" y="7294891"/>
            <a:ext cx="5261870" cy="7720293"/>
            <a:chOff x="0" y="0"/>
            <a:chExt cx="7015827" cy="102937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946454" y="0"/>
              <a:ext cx="4069373" cy="2212259"/>
            </a:xfrm>
            <a:custGeom>
              <a:avLst/>
              <a:gdLst/>
              <a:ahLst/>
              <a:cxnLst/>
              <a:rect r="r" b="b" t="t" l="l"/>
              <a:pathLst>
                <a:path h="2212259" w="4069373">
                  <a:moveTo>
                    <a:pt x="0" y="0"/>
                  </a:moveTo>
                  <a:lnTo>
                    <a:pt x="4069373" y="0"/>
                  </a:lnTo>
                  <a:lnTo>
                    <a:pt x="4069373" y="2212259"/>
                  </a:lnTo>
                  <a:lnTo>
                    <a:pt x="0" y="2212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08884" cy="10293724"/>
            </a:xfrm>
            <a:custGeom>
              <a:avLst/>
              <a:gdLst/>
              <a:ahLst/>
              <a:cxnLst/>
              <a:rect r="r" b="b" t="t" l="l"/>
              <a:pathLst>
                <a:path h="10293724" w="5408884">
                  <a:moveTo>
                    <a:pt x="0" y="0"/>
                  </a:moveTo>
                  <a:lnTo>
                    <a:pt x="5408884" y="0"/>
                  </a:lnTo>
                  <a:lnTo>
                    <a:pt x="5408884" y="10293724"/>
                  </a:lnTo>
                  <a:lnTo>
                    <a:pt x="0" y="10293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5836" y="1669750"/>
            <a:ext cx="1314751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SIMPLE PRESENT: AFFIRMATIVA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35320" y="4254200"/>
            <a:ext cx="13988916" cy="180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I take ballet classes.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I play basketball at school.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I have short blond hair and green eyes.</a:t>
            </a:r>
          </a:p>
        </p:txBody>
      </p:sp>
      <p:sp>
        <p:nvSpPr>
          <p:cNvPr name="Freeform 16" id="16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01930" y="6611234"/>
            <a:ext cx="12230893" cy="65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750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 As frases estão no Simple Present Tense. Observe-as.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35836" y="2901152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5836" y="6337624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885825"/>
            <a:ext cx="13147517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USOS DO SIMPLE PRESENT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8449" y="2682077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Condição ou estado permanente: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Ex.: I have brown hair. / I live in France.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1859623" y="6953169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98449" y="6070139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Hábitos, fatos, gostos e preferências: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Ex.: On weekends, I play soccer.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I like outdoor activities.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51055" y="4323291"/>
            <a:ext cx="5235126" cy="4807052"/>
          </a:xfrm>
          <a:custGeom>
            <a:avLst/>
            <a:gdLst/>
            <a:ahLst/>
            <a:cxnLst/>
            <a:rect r="r" b="b" t="t" l="l"/>
            <a:pathLst>
              <a:path h="4807052" w="5235126">
                <a:moveTo>
                  <a:pt x="0" y="0"/>
                </a:moveTo>
                <a:lnTo>
                  <a:pt x="5235125" y="0"/>
                </a:lnTo>
                <a:lnTo>
                  <a:pt x="5235125" y="4807052"/>
                </a:lnTo>
                <a:lnTo>
                  <a:pt x="0" y="48070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1220781"/>
            <a:ext cx="1345662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Komsomol"/>
                <a:ea typeface="Komsomol"/>
                <a:cs typeface="Komsomol"/>
                <a:sym typeface="Komsomol"/>
              </a:rPr>
              <a:t>Estrutura: Sujeito + verbo + complemento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35836" y="3405991"/>
            <a:ext cx="10879410" cy="530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My friends and I go to the club on weekends.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I have brown hair.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I love comedy and action movies.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Verbo no infinitivo SEM "to".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35836" y="2901152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5836" y="6337624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885825"/>
            <a:ext cx="13147517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SUJEITO E 3ª PESSOA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8449" y="2682077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Em inglês o sujeito é obrigatório: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"have short hair" não faz sentido.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1859623" y="6953169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98449" y="6070139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Só he/she/it acrescenta -s no verbo: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Brenda takes ballet classes.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Thomas lives in Porto Alegre.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51055" y="4323291"/>
            <a:ext cx="5235126" cy="4807052"/>
          </a:xfrm>
          <a:custGeom>
            <a:avLst/>
            <a:gdLst/>
            <a:ahLst/>
            <a:cxnLst/>
            <a:rect r="r" b="b" t="t" l="l"/>
            <a:pathLst>
              <a:path h="4807052" w="5235126">
                <a:moveTo>
                  <a:pt x="0" y="0"/>
                </a:moveTo>
                <a:lnTo>
                  <a:pt x="5235125" y="0"/>
                </a:lnTo>
                <a:lnTo>
                  <a:pt x="5235125" y="4807052"/>
                </a:lnTo>
                <a:lnTo>
                  <a:pt x="0" y="48070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1220781"/>
            <a:ext cx="1345662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Komsomol"/>
                <a:ea typeface="Komsomol"/>
                <a:cs typeface="Komsomol"/>
                <a:sym typeface="Komsomol"/>
              </a:rPr>
              <a:t>Conjugação no Simple Present: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35836" y="3405991"/>
            <a:ext cx="10879410" cy="530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I live in Brazil. / You live in Rio.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He lives in Fortaleza. / She lives in Natal.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It lives approximately 30 years. (tartaruga)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We live on the coast. / You live in a house.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They live in a nice apartment.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35836" y="2901152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5836" y="6337624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885825"/>
            <a:ext cx="13147517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REGRAS ORTOGRÁFICAS DO -S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8449" y="2682077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-s, -sh, -ch, -o, -x, -z -&gt; acrescenta -es: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passes, washes, watches, fixes, does, goes.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1859623" y="6953169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98449" y="6070139"/>
            <a:ext cx="13988916" cy="274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-y após consoante -&gt; -ies: studies, tries.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-y após vogal -&gt; -s: says, obeys, buys.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to have -&gt; has.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01930" y="4473275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4"/>
                </a:lnTo>
                <a:lnTo>
                  <a:pt x="0" y="6155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01930" y="5412669"/>
            <a:ext cx="510902" cy="615545"/>
          </a:xfrm>
          <a:custGeom>
            <a:avLst/>
            <a:gdLst/>
            <a:ahLst/>
            <a:cxnLst/>
            <a:rect r="r" b="b" t="t" l="l"/>
            <a:pathLst>
              <a:path h="615545" w="510902">
                <a:moveTo>
                  <a:pt x="0" y="0"/>
                </a:moveTo>
                <a:lnTo>
                  <a:pt x="510902" y="0"/>
                </a:lnTo>
                <a:lnTo>
                  <a:pt x="510902" y="615545"/>
                </a:lnTo>
                <a:lnTo>
                  <a:pt x="0" y="61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13065" y="7294891"/>
            <a:ext cx="5261870" cy="7720293"/>
            <a:chOff x="0" y="0"/>
            <a:chExt cx="7015827" cy="102937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946454" y="0"/>
              <a:ext cx="4069373" cy="2212259"/>
            </a:xfrm>
            <a:custGeom>
              <a:avLst/>
              <a:gdLst/>
              <a:ahLst/>
              <a:cxnLst/>
              <a:rect r="r" b="b" t="t" l="l"/>
              <a:pathLst>
                <a:path h="2212259" w="4069373">
                  <a:moveTo>
                    <a:pt x="0" y="0"/>
                  </a:moveTo>
                  <a:lnTo>
                    <a:pt x="4069373" y="0"/>
                  </a:lnTo>
                  <a:lnTo>
                    <a:pt x="4069373" y="2212259"/>
                  </a:lnTo>
                  <a:lnTo>
                    <a:pt x="0" y="2212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08884" cy="10293724"/>
            </a:xfrm>
            <a:custGeom>
              <a:avLst/>
              <a:gdLst/>
              <a:ahLst/>
              <a:cxnLst/>
              <a:rect r="r" b="b" t="t" l="l"/>
              <a:pathLst>
                <a:path h="10293724" w="5408884">
                  <a:moveTo>
                    <a:pt x="0" y="0"/>
                  </a:moveTo>
                  <a:lnTo>
                    <a:pt x="5408884" y="0"/>
                  </a:lnTo>
                  <a:lnTo>
                    <a:pt x="5408884" y="10293724"/>
                  </a:lnTo>
                  <a:lnTo>
                    <a:pt x="0" y="10293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5836" y="1669750"/>
            <a:ext cx="1314751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SIMPLE PRESENT: NEGATIVA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35320" y="4254200"/>
            <a:ext cx="13988916" cy="180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I don't like to watch TV all day.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Don't = do not (auxiliar do).</a:t>
            </a:r>
          </a:p>
          <a:p>
            <a:pPr algn="l">
              <a:lnSpc>
                <a:spcPts val="7367"/>
              </a:lnSpc>
            </a:pPr>
            <a:r>
              <a:rPr lang="en-US" sz="4308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I do not like horror movies.</a:t>
            </a:r>
          </a:p>
        </p:txBody>
      </p:sp>
      <p:sp>
        <p:nvSpPr>
          <p:cNvPr name="Freeform 16" id="16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01930" y="6611234"/>
            <a:ext cx="12230893" cy="65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750" b="true">
                <a:solidFill>
                  <a:srgbClr val="000000"/>
                </a:solidFill>
                <a:latin typeface="Klein Condensed Bold"/>
                <a:ea typeface="Klein Condensed Bold"/>
                <a:cs typeface="Klein Condensed Bold"/>
                <a:sym typeface="Klein Condensed Bold"/>
              </a:rPr>
              <a:t> 3ª pessoa: does not / doesn't - He doesn't like pizza.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51055" y="4323291"/>
            <a:ext cx="5235126" cy="4807052"/>
          </a:xfrm>
          <a:custGeom>
            <a:avLst/>
            <a:gdLst/>
            <a:ahLst/>
            <a:cxnLst/>
            <a:rect r="r" b="b" t="t" l="l"/>
            <a:pathLst>
              <a:path h="4807052" w="5235126">
                <a:moveTo>
                  <a:pt x="0" y="0"/>
                </a:moveTo>
                <a:lnTo>
                  <a:pt x="5235125" y="0"/>
                </a:lnTo>
                <a:lnTo>
                  <a:pt x="5235125" y="4807052"/>
                </a:lnTo>
                <a:lnTo>
                  <a:pt x="0" y="48070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35836" y="1220781"/>
            <a:ext cx="1345662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Komsomol"/>
                <a:ea typeface="Komsomol"/>
                <a:cs typeface="Komsomol"/>
                <a:sym typeface="Komsomol"/>
              </a:rPr>
              <a:t>LET'S PRACTICE I - complete com o verbo: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35836" y="3405991"/>
            <a:ext cx="10879410" cy="530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Liz ____________ (to play) the piano.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Julie ____________ (to eat) a lot of fruit.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Ricardo and Fernanda ____________ (to live) in a house.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Maria ____________ (to have) a big family.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Barbara ____________ (to love) music.</a:t>
            </a:r>
          </a:p>
          <a:p>
            <a:pPr algn="l" marL="1079726" indent="-539863" lvl="1">
              <a:lnSpc>
                <a:spcPts val="7001"/>
              </a:lnSpc>
              <a:buAutoNum type="arabicPeriod" startAt="1"/>
            </a:pPr>
            <a:r>
              <a:rPr lang="en-US" sz="5001">
                <a:solidFill>
                  <a:srgbClr val="000000"/>
                </a:solidFill>
                <a:latin typeface="Klein Condensed"/>
                <a:ea typeface="Klein Condensed"/>
                <a:cs typeface="Klein Condensed"/>
                <a:sym typeface="Klein Condensed"/>
              </a:rPr>
              <a:t>Luana and Letícia ____________ (to learn) German.</a:t>
            </a: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739089" y="-1381382"/>
            <a:ext cx="4493516" cy="5413875"/>
          </a:xfrm>
          <a:custGeom>
            <a:avLst/>
            <a:gdLst/>
            <a:ahLst/>
            <a:cxnLst/>
            <a:rect r="r" b="b" t="t" l="l"/>
            <a:pathLst>
              <a:path h="5413875" w="4493516">
                <a:moveTo>
                  <a:pt x="0" y="0"/>
                </a:moveTo>
                <a:lnTo>
                  <a:pt x="4493516" y="0"/>
                </a:lnTo>
                <a:lnTo>
                  <a:pt x="4493516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043" y="7294891"/>
            <a:ext cx="5948274" cy="5586421"/>
          </a:xfrm>
          <a:custGeom>
            <a:avLst/>
            <a:gdLst/>
            <a:ahLst/>
            <a:cxnLst/>
            <a:rect r="r" b="b" t="t" l="l"/>
            <a:pathLst>
              <a:path h="5586421" w="5948274">
                <a:moveTo>
                  <a:pt x="0" y="0"/>
                </a:moveTo>
                <a:lnTo>
                  <a:pt x="5948274" y="0"/>
                </a:lnTo>
                <a:lnTo>
                  <a:pt x="5948274" y="5586421"/>
                </a:lnTo>
                <a:lnTo>
                  <a:pt x="0" y="558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4716665" y="-3284335"/>
            <a:ext cx="8854670" cy="16855670"/>
            <a:chOff x="0" y="0"/>
            <a:chExt cx="2332094" cy="44393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2094" cy="4439353"/>
            </a:xfrm>
            <a:custGeom>
              <a:avLst/>
              <a:gdLst/>
              <a:ahLst/>
              <a:cxnLst/>
              <a:rect r="r" b="b" t="t" l="l"/>
              <a:pathLst>
                <a:path h="4439353" w="2332094">
                  <a:moveTo>
                    <a:pt x="87433" y="0"/>
                  </a:moveTo>
                  <a:lnTo>
                    <a:pt x="2244661" y="0"/>
                  </a:lnTo>
                  <a:cubicBezTo>
                    <a:pt x="2267850" y="0"/>
                    <a:pt x="2290089" y="9212"/>
                    <a:pt x="2306486" y="25609"/>
                  </a:cubicBezTo>
                  <a:cubicBezTo>
                    <a:pt x="2322883" y="42005"/>
                    <a:pt x="2332094" y="64244"/>
                    <a:pt x="2332094" y="87433"/>
                  </a:cubicBezTo>
                  <a:lnTo>
                    <a:pt x="2332094" y="4351920"/>
                  </a:lnTo>
                  <a:cubicBezTo>
                    <a:pt x="2332094" y="4375109"/>
                    <a:pt x="2322883" y="4397348"/>
                    <a:pt x="2306486" y="4413745"/>
                  </a:cubicBezTo>
                  <a:cubicBezTo>
                    <a:pt x="2290089" y="4430142"/>
                    <a:pt x="2267850" y="4439353"/>
                    <a:pt x="2244661" y="4439353"/>
                  </a:cubicBezTo>
                  <a:lnTo>
                    <a:pt x="87433" y="4439353"/>
                  </a:lnTo>
                  <a:cubicBezTo>
                    <a:pt x="64244" y="4439353"/>
                    <a:pt x="42005" y="4430142"/>
                    <a:pt x="25609" y="4413745"/>
                  </a:cubicBezTo>
                  <a:cubicBezTo>
                    <a:pt x="9212" y="4397348"/>
                    <a:pt x="0" y="4375109"/>
                    <a:pt x="0" y="4351920"/>
                  </a:cubicBezTo>
                  <a:lnTo>
                    <a:pt x="0" y="87433"/>
                  </a:lnTo>
                  <a:cubicBezTo>
                    <a:pt x="0" y="64244"/>
                    <a:pt x="9212" y="42005"/>
                    <a:pt x="25609" y="25609"/>
                  </a:cubicBezTo>
                  <a:cubicBezTo>
                    <a:pt x="42005" y="9212"/>
                    <a:pt x="64244" y="0"/>
                    <a:pt x="874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2094" cy="4477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747999" y="-2425962"/>
            <a:ext cx="3917658" cy="3454662"/>
          </a:xfrm>
          <a:custGeom>
            <a:avLst/>
            <a:gdLst/>
            <a:ahLst/>
            <a:cxnLst/>
            <a:rect r="r" b="b" t="t" l="l"/>
            <a:pathLst>
              <a:path h="3454662" w="3917658">
                <a:moveTo>
                  <a:pt x="0" y="0"/>
                </a:moveTo>
                <a:lnTo>
                  <a:pt x="3917657" y="0"/>
                </a:lnTo>
                <a:lnTo>
                  <a:pt x="3917657" y="3454662"/>
                </a:lnTo>
                <a:lnTo>
                  <a:pt x="0" y="34546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35836" y="9258300"/>
            <a:ext cx="3035270" cy="2676556"/>
          </a:xfrm>
          <a:custGeom>
            <a:avLst/>
            <a:gdLst/>
            <a:ahLst/>
            <a:cxnLst/>
            <a:rect r="r" b="b" t="t" l="l"/>
            <a:pathLst>
              <a:path h="2676556" w="3035270">
                <a:moveTo>
                  <a:pt x="0" y="0"/>
                </a:moveTo>
                <a:lnTo>
                  <a:pt x="3035270" y="0"/>
                </a:lnTo>
                <a:lnTo>
                  <a:pt x="3035270" y="2676556"/>
                </a:lnTo>
                <a:lnTo>
                  <a:pt x="0" y="26765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4983353" y="-772452"/>
            <a:ext cx="5176964" cy="3602304"/>
          </a:xfrm>
          <a:custGeom>
            <a:avLst/>
            <a:gdLst/>
            <a:ahLst/>
            <a:cxnLst/>
            <a:rect r="r" b="b" t="t" l="l"/>
            <a:pathLst>
              <a:path h="3602304" w="5176964">
                <a:moveTo>
                  <a:pt x="5176964" y="3602304"/>
                </a:moveTo>
                <a:lnTo>
                  <a:pt x="0" y="3602304"/>
                </a:lnTo>
                <a:lnTo>
                  <a:pt x="0" y="0"/>
                </a:lnTo>
                <a:lnTo>
                  <a:pt x="5176964" y="0"/>
                </a:lnTo>
                <a:lnTo>
                  <a:pt x="5176964" y="3602304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512871" y="7294891"/>
            <a:ext cx="4458072" cy="3926818"/>
          </a:xfrm>
          <a:custGeom>
            <a:avLst/>
            <a:gdLst/>
            <a:ahLst/>
            <a:cxnLst/>
            <a:rect r="r" b="b" t="t" l="l"/>
            <a:pathLst>
              <a:path h="3926818" w="4458072">
                <a:moveTo>
                  <a:pt x="4458072" y="0"/>
                </a:moveTo>
                <a:lnTo>
                  <a:pt x="0" y="0"/>
                </a:lnTo>
                <a:lnTo>
                  <a:pt x="0" y="3926818"/>
                </a:lnTo>
                <a:lnTo>
                  <a:pt x="4458072" y="3926818"/>
                </a:lnTo>
                <a:lnTo>
                  <a:pt x="44580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64910" y="2471429"/>
            <a:ext cx="14558180" cy="409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28"/>
              </a:lnSpc>
            </a:pPr>
            <a:r>
              <a:rPr lang="en-US" sz="23805">
                <a:solidFill>
                  <a:srgbClr val="0CC0DF"/>
                </a:solidFill>
                <a:latin typeface="Komsomol"/>
                <a:ea typeface="Komsomol"/>
                <a:cs typeface="Komsomol"/>
                <a:sym typeface="Komsomol"/>
              </a:rPr>
              <a:t>THANK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92876" y="5593011"/>
            <a:ext cx="10102248" cy="175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79"/>
              </a:lnSpc>
            </a:pPr>
            <a:r>
              <a:rPr lang="en-US" sz="10271">
                <a:solidFill>
                  <a:srgbClr val="EB77BE"/>
                </a:solidFill>
                <a:latin typeface="Beth Ellen"/>
                <a:ea typeface="Beth Ellen"/>
                <a:cs typeface="Beth Ellen"/>
                <a:sym typeface="Beth Ellen"/>
              </a:rPr>
              <a:t>for listening!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45201" y="8910955"/>
            <a:ext cx="1173060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 Bibliográfica: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LANGUAGE MATTERS I – Simple Present Tense. Material da aula.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DAGiK8VE4OU</dc:identifier>
  <dcterms:modified xsi:type="dcterms:W3CDTF">2011-08-01T06:04:30Z</dcterms:modified>
  <cp:revision>1</cp:revision>
  <dc:title>PRESENT CONTINUOUS _ Aula 02</dc:title>
</cp:coreProperties>
</file>